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68" y="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1731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PP Chat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基于 Spring Boot 的即时通讯系统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WEB PROGRAMMING · JAVA EE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5120640"/>
            <a:ext cx="2743200" cy="182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5303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南昌大学 · Web 编程课程项目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217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latin typeface="Arial" pitchFamily="34" charset="0"/>
                <a:ea typeface="Microsoft YaHei" pitchFamily="34" charset="-122"/>
                <a:cs typeface="Arial" pitchFamily="34" charset="-120"/>
              </a:rPr>
              <a:t>1 /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6080760"/>
            <a:ext cx="11274552" cy="9144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项目概览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FA7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latin typeface="Arial"/>
                <a:ea typeface="Microsoft YaHei"/>
              </a:rPr>
              <a:t>PP Chat 是一个功能完整的 Web 即时通讯系统
</a:t>
            </a:r>
            <a:r>
              <a:rPr lang="en-US" sz="1400" dirty="0">
                <a:latin typeface="Arial"/>
                <a:ea typeface="Microsoft YaHei"/>
              </a:rPr>
              <a:t>私聊、群聊、语音消息、好友管理
配套管理后台（用户管理、系统监控）
Spring Boot / JPA / WebSocket / Thymeleaf</a:t>
            </a:r>
            <a:endParaRPr lang="en-US" sz="1600" dirty="0"/>
          </a:p>
        </p:txBody>
      </p:sp>
      <p:pic>
        <p:nvPicPr>
          <p:cNvPr id="5" name="Image 0" descr="images/01-main-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02920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217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latin typeface="Arial" pitchFamily="34" charset="0"/>
                <a:ea typeface="Microsoft YaHei" pitchFamily="34" charset="-122"/>
                <a:cs typeface="Arial" pitchFamily="34" charset="-120"/>
              </a:rPr>
              <a:t>2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6080760"/>
            <a:ext cx="11274552" cy="9144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技术栈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FA7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474720" cy="1737360"/>
          </a:xfrm>
          <a:prstGeom prst="round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37160" cy="1737360"/>
          </a:xfrm>
          <a:prstGeom prst="rect">
            <a:avLst/>
          </a:prstGeom>
          <a:solidFill>
            <a:srgbClr val="002F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Spring Boot 4.0.6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7432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Arial" pitchFamily="34" charset="0"/>
                <a:ea typeface="Microsoft YaHei" pitchFamily="34" charset="-122"/>
                <a:cs typeface="Arial" pitchFamily="34" charset="-120"/>
              </a:rPr>
              <a:t>Java 21 · 自动配置 · 内嵌 Tomcat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2011680"/>
            <a:ext cx="3474720" cy="1737360"/>
          </a:xfrm>
          <a:prstGeom prst="round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480560" y="2011680"/>
            <a:ext cx="137160" cy="1737360"/>
          </a:xfrm>
          <a:prstGeom prst="rect">
            <a:avLst/>
          </a:prstGeom>
          <a:solidFill>
            <a:srgbClr val="002F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846320" y="21945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Spring Data JPA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27432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Arial" pitchFamily="34" charset="0"/>
                <a:ea typeface="Microsoft YaHei" pitchFamily="34" charset="-122"/>
                <a:cs typeface="Arial" pitchFamily="34" charset="-120"/>
              </a:rPr>
              <a:t>Hibernate ORM · Repository 模式 · 自动 DDL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2011680"/>
            <a:ext cx="3474720" cy="1737360"/>
          </a:xfrm>
          <a:prstGeom prst="round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229600" y="2011680"/>
            <a:ext cx="137160" cy="1737360"/>
          </a:xfrm>
          <a:prstGeom prst="rect">
            <a:avLst/>
          </a:prstGeom>
          <a:solidFill>
            <a:srgbClr val="002F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595360" y="21945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WebSocket STOMP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95360" y="27432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Arial" pitchFamily="34" charset="0"/>
                <a:ea typeface="Microsoft YaHei" pitchFamily="34" charset="-122"/>
                <a:cs typeface="Arial" pitchFamily="34" charset="-120"/>
              </a:rPr>
              <a:t>SockJS 降级 · /ws 端点 · 实时双向通信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3474720" cy="1737360"/>
          </a:xfrm>
          <a:prstGeom prst="round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31520" y="4114800"/>
            <a:ext cx="137160" cy="1737360"/>
          </a:xfrm>
          <a:prstGeom prst="rect">
            <a:avLst/>
          </a:prstGeom>
          <a:solidFill>
            <a:srgbClr val="002F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097280" y="42976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Thymeleaf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48463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Arial" pitchFamily="34" charset="0"/>
                <a:ea typeface="Microsoft YaHei" pitchFamily="34" charset="-122"/>
                <a:cs typeface="Arial" pitchFamily="34" charset="-120"/>
              </a:rPr>
              <a:t>服务端渲染 · SPA 页面壳 · 模板继承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80560" y="4114800"/>
            <a:ext cx="3474720" cy="1737360"/>
          </a:xfrm>
          <a:prstGeom prst="round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480560" y="4114800"/>
            <a:ext cx="137160" cy="1737360"/>
          </a:xfrm>
          <a:prstGeom prst="rect">
            <a:avLst/>
          </a:prstGeom>
          <a:solidFill>
            <a:srgbClr val="002F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846320" y="42976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MySQL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46320" y="48463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Arial" pitchFamily="34" charset="0"/>
                <a:ea typeface="Microsoft YaHei" pitchFamily="34" charset="-122"/>
                <a:cs typeface="Arial" pitchFamily="34" charset="-120"/>
              </a:rPr>
              <a:t>关系型数据库 · 10 张核心业务表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0" y="4114800"/>
            <a:ext cx="3474720" cy="1737360"/>
          </a:xfrm>
          <a:prstGeom prst="round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8229600" y="4114800"/>
            <a:ext cx="137160" cy="1737360"/>
          </a:xfrm>
          <a:prstGeom prst="rect">
            <a:avLst/>
          </a:prstGeom>
          <a:solidFill>
            <a:srgbClr val="002F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595360" y="42976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BCrypt + Session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95360" y="48463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Arial" pitchFamily="34" charset="0"/>
                <a:ea typeface="Microsoft YaHei" pitchFamily="34" charset="-122"/>
                <a:cs typeface="Arial" pitchFamily="34" charset="-120"/>
              </a:rPr>
              <a:t>密码加密 · 会话认证 · 拦截器链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217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latin typeface="Arial" pitchFamily="34" charset="0"/>
                <a:ea typeface="Microsoft YaHei" pitchFamily="34" charset="-122"/>
                <a:cs typeface="Arial" pitchFamily="34" charset="-120"/>
              </a:rPr>
              <a:t>3 / 12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6080760"/>
            <a:ext cx="11274552" cy="9144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核心功能 · 用户模块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FA7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FEATURES · USER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474720" cy="4572000"/>
          </a:xfrm>
          <a:prstGeom prst="round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474720" cy="54864"/>
          </a:xfrm>
          <a:prstGeom prst="rect">
            <a:avLst/>
          </a:prstGeom>
          <a:solidFill>
            <a:srgbClr val="002F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用户认证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注册 · 登录 · BCrypt 密码加密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Session 管理 · 拦截器保护</a:t>
            </a:r>
            <a:endParaRPr lang="en-US" sz="1200" dirty="0"/>
          </a:p>
        </p:txBody>
      </p:sp>
      <p:pic>
        <p:nvPicPr>
          <p:cNvPr id="8" name="Image 0" descr="images/02-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657600"/>
            <a:ext cx="2926080" cy="2377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480560" y="1737360"/>
            <a:ext cx="3474720" cy="4572000"/>
          </a:xfrm>
          <a:prstGeom prst="round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4480560" y="1737360"/>
            <a:ext cx="3474720" cy="54864"/>
          </a:xfrm>
          <a:prstGeom prst="rect">
            <a:avLst/>
          </a:prstGeom>
          <a:solidFill>
            <a:srgbClr val="002F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4754880" y="2011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好友管理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754880" y="24688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搜索添加 · 请求处理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双向好友关系 · 在线状态</a:t>
            </a:r>
            <a:endParaRPr lang="en-US" sz="1200" dirty="0"/>
          </a:p>
        </p:txBody>
      </p:sp>
      <p:pic>
        <p:nvPicPr>
          <p:cNvPr id="13" name="Image 1" descr="images/05-frien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657600"/>
            <a:ext cx="2926080" cy="23774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229600" y="1737360"/>
            <a:ext cx="3474720" cy="4572000"/>
          </a:xfrm>
          <a:prstGeom prst="round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8229600" y="1737360"/>
            <a:ext cx="3474720" cy="54864"/>
          </a:xfrm>
          <a:prstGeom prst="rect">
            <a:avLst/>
          </a:prstGeom>
          <a:solidFill>
            <a:srgbClr val="002F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8503920" y="2011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通知系统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8503920" y="24688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好友请求 · 群组邀请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实时通知 · 未读计数</a:t>
            </a:r>
            <a:endParaRPr lang="en-US" sz="1200" dirty="0"/>
          </a:p>
        </p:txBody>
      </p:sp>
      <p:pic>
        <p:nvPicPr>
          <p:cNvPr id="18" name="Image 2" descr="images/07-notific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3657600"/>
            <a:ext cx="2926080" cy="23774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7200" y="6217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latin typeface="Arial" pitchFamily="34" charset="0"/>
                <a:ea typeface="Microsoft YaHei" pitchFamily="34" charset="-122"/>
                <a:cs typeface="Arial" pitchFamily="34" charset="-120"/>
              </a:rPr>
              <a:t>4 / 12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57200" y="6080760"/>
            <a:ext cx="11274552" cy="9144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核心功能 · 聊天模块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FA7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FEATURES · CHAT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474720" cy="4572000"/>
          </a:xfrm>
          <a:prstGeom prst="round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474720" cy="54864"/>
          </a:xfrm>
          <a:prstGeom prst="rect">
            <a:avLst/>
          </a:prstGeom>
          <a:solidFill>
            <a:srgbClr val="002F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私聊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实时消息推送 · 已读/未读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历史记录加载</a:t>
            </a:r>
            <a:endParaRPr lang="en-US" sz="1200" dirty="0"/>
          </a:p>
        </p:txBody>
      </p:sp>
      <p:pic>
        <p:nvPicPr>
          <p:cNvPr id="8" name="Image 0" descr="images/03-private-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657600"/>
            <a:ext cx="2926080" cy="2377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480560" y="1737360"/>
            <a:ext cx="3474720" cy="4572000"/>
          </a:xfrm>
          <a:prstGeom prst="round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4480560" y="1737360"/>
            <a:ext cx="3474720" cy="54864"/>
          </a:xfrm>
          <a:prstGeom prst="rect">
            <a:avLst/>
          </a:prstGeom>
          <a:solidFill>
            <a:srgbClr val="002F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4754880" y="2011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群聊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754880" y="24688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创建群组 · 邀请成员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群公告 · 入群申请</a:t>
            </a:r>
            <a:endParaRPr lang="en-US" sz="1200" dirty="0"/>
          </a:p>
        </p:txBody>
      </p:sp>
      <p:pic>
        <p:nvPicPr>
          <p:cNvPr id="13" name="Image 1" descr="images/04-group-c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657600"/>
            <a:ext cx="2926080" cy="23774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229600" y="1737360"/>
            <a:ext cx="3474720" cy="4572000"/>
          </a:xfrm>
          <a:prstGeom prst="round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8229600" y="1737360"/>
            <a:ext cx="3474720" cy="54864"/>
          </a:xfrm>
          <a:prstGeom prst="rect">
            <a:avLst/>
          </a:prstGeom>
          <a:solidFill>
            <a:srgbClr val="002F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8503920" y="2011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语音消息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8503920" y="24688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浏览器录音 → Base64 传输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FileService 文件存储</a:t>
            </a:r>
            <a:endParaRPr lang="en-US" sz="1200" dirty="0"/>
          </a:p>
        </p:txBody>
      </p:sp>
      <p:pic>
        <p:nvPicPr>
          <p:cNvPr id="18" name="Image 2" descr="images/06-voi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3657600"/>
            <a:ext cx="2926080" cy="23774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7200" y="6217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latin typeface="Arial" pitchFamily="34" charset="0"/>
                <a:ea typeface="Microsoft YaHei" pitchFamily="34" charset="-122"/>
                <a:cs typeface="Arial" pitchFamily="34" charset="-120"/>
              </a:rPr>
              <a:t>5 / 12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57200" y="6080760"/>
            <a:ext cx="11274552" cy="9144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后端分层架构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FA7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solidFill>
            <a:srgbClr val="F5F5F4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05840" y="190195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表现层 · Presentation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latin typeface="Arial" pitchFamily="34" charset="0"/>
                <a:ea typeface="Microsoft YaHei" pitchFamily="34" charset="-122"/>
                <a:cs typeface="Arial" pitchFamily="34" charset="-120"/>
              </a:rPr>
              <a:t>Thymeleaf 模板 · SPA 模块化 JS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latin typeface="Arial" pitchFamily="34" charset="0"/>
                <a:ea typeface="Microsoft YaHei" pitchFamily="34" charset="-122"/>
                <a:cs typeface="Arial" pitchFamily="34" charset="-120"/>
              </a:rPr>
              <a:t>WebSocket STOMP 客户端 · SockJS 降级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3246120"/>
            <a:ext cx="5029200" cy="1188720"/>
          </a:xfrm>
          <a:prstGeom prst="roundRect">
            <a:avLst/>
          </a:prstGeom>
          <a:solidFill>
            <a:srgbClr val="002FA7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05840" y="331927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业务层 · Business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7033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Controller 薄层处理路由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Service 业务逻辑 · WebSocket 消息处理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自定义拦截器管理 Session 认证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solidFill>
            <a:srgbClr val="E8EEF2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05840" y="473659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数据层 · Data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51206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latin typeface="Arial" pitchFamily="34" charset="0"/>
                <a:ea typeface="Microsoft YaHei" pitchFamily="34" charset="-122"/>
                <a:cs typeface="Arial" pitchFamily="34" charset="-120"/>
              </a:rPr>
              <a:t>MySQL 关系数据库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latin typeface="Arial" pitchFamily="34" charset="0"/>
                <a:ea typeface="Microsoft YaHei" pitchFamily="34" charset="-122"/>
                <a:cs typeface="Arial" pitchFamily="34" charset="-120"/>
              </a:rPr>
              <a:t>Spring Data JPA / Hibernate ORM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latin typeface="Arial" pitchFamily="34" charset="0"/>
                <a:ea typeface="Microsoft YaHei" pitchFamily="34" charset="-122"/>
                <a:cs typeface="Arial" pitchFamily="34" charset="-120"/>
              </a:rPr>
              <a:t>10 张核心表 · ddl-auto: update</a:t>
            </a:r>
            <a:endParaRPr lang="en-US" sz="1100" dirty="0"/>
          </a:p>
        </p:txBody>
      </p:sp>
      <p:pic>
        <p:nvPicPr>
          <p:cNvPr id="13" name="Image 0" descr="images/09-usec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5029200" cy="41148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6217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latin typeface="Arial" pitchFamily="34" charset="0"/>
                <a:ea typeface="Microsoft YaHei" pitchFamily="34" charset="-122"/>
                <a:cs typeface="Arial" pitchFamily="34" charset="-120"/>
              </a:rPr>
              <a:t>6 / 12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6080760"/>
            <a:ext cx="11274552" cy="9144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数据库设计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FA7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DATA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Arial" pitchFamily="34" charset="0"/>
                <a:ea typeface="Microsoft YaHei" pitchFamily="34" charset="-122"/>
                <a:cs typeface="Arial" pitchFamily="34" charset="-120"/>
              </a:rPr>
              <a:t>ER 关系图</a:t>
            </a:r>
            <a:endParaRPr lang="en-US" sz="1400" dirty="0"/>
          </a:p>
        </p:txBody>
      </p:sp>
      <p:pic>
        <p:nvPicPr>
          <p:cNvPr id="5" name="Image 0" descr="images/10-er-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94560"/>
            <a:ext cx="640080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0" y="1737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Arial" pitchFamily="34" charset="0"/>
                <a:ea typeface="Microsoft YaHei" pitchFamily="34" charset="-122"/>
                <a:cs typeface="Arial" pitchFamily="34" charset="-120"/>
              </a:rPr>
              <a:t>10 张核心表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solidFill>
            <a:srgbClr val="F5F5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7589520" y="2423160"/>
            <a:ext cx="109728" cy="109728"/>
          </a:xfrm>
          <a:prstGeom prst="ellipse">
            <a:avLst/>
          </a:prstGeom>
          <a:solidFill>
            <a:srgbClr val="002F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7863840" y="230428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Consolas" pitchFamily="34" charset="-120"/>
              </a:rPr>
              <a:t>pp_user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509760" y="230428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用户基本信息、BCrypt 密码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89520" y="2880360"/>
            <a:ext cx="109728" cy="109728"/>
          </a:xfrm>
          <a:prstGeom prst="ellipse">
            <a:avLst/>
          </a:prstGeom>
          <a:solidFill>
            <a:srgbClr val="002F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7863840" y="276148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Consolas" pitchFamily="34" charset="-120"/>
              </a:rPr>
              <a:t>pp_friend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509760" y="276148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双向好友关系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solidFill>
            <a:srgbClr val="F5F5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7589520" y="3337560"/>
            <a:ext cx="109728" cy="109728"/>
          </a:xfrm>
          <a:prstGeom prst="ellipse">
            <a:avLst/>
          </a:prstGeom>
          <a:solidFill>
            <a:srgbClr val="002F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7863840" y="321868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Consolas" pitchFamily="34" charset="-120"/>
              </a:rPr>
              <a:t>pp_group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509760" y="321868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群组信息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589520" y="3794760"/>
            <a:ext cx="109728" cy="109728"/>
          </a:xfrm>
          <a:prstGeom prst="ellipse">
            <a:avLst/>
          </a:prstGeom>
          <a:solidFill>
            <a:srgbClr val="002F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7863840" y="367588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Consolas" pitchFamily="34" charset="-120"/>
              </a:rPr>
              <a:t>pp_group_member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509760" y="367588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群成员关联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solidFill>
            <a:srgbClr val="F5F5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19"/>
          <p:cNvSpPr/>
          <p:nvPr/>
        </p:nvSpPr>
        <p:spPr>
          <a:xfrm>
            <a:off x="7589520" y="4251960"/>
            <a:ext cx="109728" cy="109728"/>
          </a:xfrm>
          <a:prstGeom prst="ellipse">
            <a:avLst/>
          </a:prstGeom>
          <a:solidFill>
            <a:srgbClr val="002F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7863840" y="413308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Consolas" pitchFamily="34" charset="-120"/>
              </a:rPr>
              <a:t>pp_group_invitation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509760" y="413308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邀请/申请记录(type 区分)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589520" y="4709160"/>
            <a:ext cx="109728" cy="109728"/>
          </a:xfrm>
          <a:prstGeom prst="ellipse">
            <a:avLst/>
          </a:prstGeom>
          <a:solidFill>
            <a:srgbClr val="002F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7863840" y="459028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Consolas" pitchFamily="34" charset="-120"/>
              </a:rPr>
              <a:t>pp_private_message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509760" y="459028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私信（含 status 已读/未读）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solidFill>
            <a:srgbClr val="F5F5F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6"/>
          <p:cNvSpPr/>
          <p:nvPr/>
        </p:nvSpPr>
        <p:spPr>
          <a:xfrm>
            <a:off x="7589520" y="5166360"/>
            <a:ext cx="109728" cy="109728"/>
          </a:xfrm>
          <a:prstGeom prst="ellipse">
            <a:avLst/>
          </a:prstGeom>
          <a:solidFill>
            <a:srgbClr val="002F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7"/>
          <p:cNvSpPr/>
          <p:nvPr/>
        </p:nvSpPr>
        <p:spPr>
          <a:xfrm>
            <a:off x="7863840" y="504748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Consolas" pitchFamily="34" charset="-120"/>
              </a:rPr>
              <a:t>pp_group_message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509760" y="504748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群消息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589520" y="5623560"/>
            <a:ext cx="109728" cy="109728"/>
          </a:xfrm>
          <a:prstGeom prst="ellipse">
            <a:avLst/>
          </a:prstGeom>
          <a:solidFill>
            <a:srgbClr val="002F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7863840" y="550468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Consolas" pitchFamily="34" charset="-120"/>
              </a:rPr>
              <a:t>pp_admin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509760" y="550468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管理员账户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57200" y="6217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latin typeface="Arial" pitchFamily="34" charset="0"/>
                <a:ea typeface="Microsoft YaHei" pitchFamily="34" charset="-122"/>
                <a:cs typeface="Arial" pitchFamily="34" charset="-120"/>
              </a:rPr>
              <a:t>7 / 12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57200" y="6080760"/>
            <a:ext cx="11274552" cy="9144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前端 SPA 模块化设计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FA7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FRONTEND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474720" cy="1737360"/>
          </a:xfrm>
          <a:prstGeom prst="round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37160" cy="1737360"/>
          </a:xfrm>
          <a:prstGeom prst="rect">
            <a:avLst/>
          </a:prstGeom>
          <a:solidFill>
            <a:srgbClr val="002F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97280" y="20116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Consolas" pitchFamily="34" charset="-120"/>
              </a:rPr>
              <a:t>chat-core.js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260604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全局状态 · 视图切换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WebSocket 初始化 · 共享工具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828800"/>
            <a:ext cx="3474720" cy="1737360"/>
          </a:xfrm>
          <a:prstGeom prst="round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137160" cy="1737360"/>
          </a:xfrm>
          <a:prstGeom prst="rect">
            <a:avLst/>
          </a:prstGeom>
          <a:solidFill>
            <a:srgbClr val="002F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846320" y="20116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Consolas" pitchFamily="34" charset="-120"/>
              </a:rPr>
              <a:t>chat-view.js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260604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会话 UI · 消息渲染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语音录制 · 搜索导出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828800"/>
            <a:ext cx="3474720" cy="1737360"/>
          </a:xfrm>
          <a:prstGeom prst="round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229600" y="1828800"/>
            <a:ext cx="137160" cy="1737360"/>
          </a:xfrm>
          <a:prstGeom prst="rect">
            <a:avLst/>
          </a:prstGeom>
          <a:solidFill>
            <a:srgbClr val="002F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Consolas" pitchFamily="34" charset="-120"/>
              </a:rPr>
              <a:t>chat-friends.js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95360" y="260604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好友管理 · 请求处理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通知 · 在线状态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3474720" cy="1737360"/>
          </a:xfrm>
          <a:prstGeom prst="round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31520" y="3931920"/>
            <a:ext cx="137160" cy="1737360"/>
          </a:xfrm>
          <a:prstGeom prst="rect">
            <a:avLst/>
          </a:prstGeom>
          <a:solidFill>
            <a:srgbClr val="002F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097280" y="41148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Consolas" pitchFamily="34" charset="-120"/>
              </a:rPr>
              <a:t>chat-groups.js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47091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群组详情 · 邀请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入群申请 · 群公告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80560" y="3931920"/>
            <a:ext cx="3474720" cy="1737360"/>
          </a:xfrm>
          <a:prstGeom prst="round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480560" y="3931920"/>
            <a:ext cx="137160" cy="1737360"/>
          </a:xfrm>
          <a:prstGeom prst="rect">
            <a:avLst/>
          </a:prstGeom>
          <a:solidFill>
            <a:srgbClr val="002F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846320" y="41148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Consolas" pitchFamily="34" charset="-120"/>
              </a:rPr>
              <a:t>chat-profile.js + chat-ui.js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46320" y="47091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个人资料编辑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弹窗/抽屉/缩放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0" y="3931920"/>
            <a:ext cx="3474720" cy="1737360"/>
          </a:xfrm>
          <a:prstGeom prst="roundRect">
            <a:avLst/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8229600" y="3931920"/>
            <a:ext cx="137160" cy="1737360"/>
          </a:xfrm>
          <a:prstGeom prst="rect">
            <a:avLst/>
          </a:prstGeom>
          <a:solidFill>
            <a:srgbClr val="002F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595360" y="41148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Consolas" pitchFamily="34" charset="-120"/>
              </a:rPr>
              <a:t>theme.js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595360" y="47091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亮色/暗色/系统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主题一键切换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217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latin typeface="Arial" pitchFamily="34" charset="0"/>
                <a:ea typeface="Microsoft YaHei" pitchFamily="34" charset="-122"/>
                <a:cs typeface="Arial" pitchFamily="34" charset="-120"/>
              </a:rPr>
              <a:t>8 / 12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6080760"/>
            <a:ext cx="11274552" cy="9144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实时通信模型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FA7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REALTIME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3291840"/>
            <a:ext cx="10698480" cy="27432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554480" y="3154680"/>
            <a:ext cx="274320" cy="274320"/>
          </a:xfrm>
          <a:prstGeom prst="ellipse">
            <a:avLst/>
          </a:prstGeom>
          <a:solidFill>
            <a:srgbClr val="002F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Arial" pitchFamily="34" charset="0"/>
                <a:ea typeface="Microsoft YaHei" pitchFamily="34" charset="-122"/>
                <a:cs typeface="Arial" pitchFamily="34" charset="-120"/>
              </a:rPr>
              <a:t>STEP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WebSocket 握手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端点 /ws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复用 HTTP Session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Principal = 用户 ID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94760" y="3154680"/>
            <a:ext cx="274320" cy="27432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971800" y="3657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Arial" pitchFamily="34" charset="0"/>
                <a:ea typeface="Microsoft YaHei" pitchFamily="34" charset="-122"/>
                <a:cs typeface="Arial" pitchFamily="34" charset="-120"/>
              </a:rPr>
              <a:t>STEP 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71800" y="3977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私信通道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71800" y="55778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发送 → /app/chat/private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订阅 → /user/queue/private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3154680"/>
            <a:ext cx="274320" cy="274320"/>
          </a:xfrm>
          <a:prstGeom prst="ellipse">
            <a:avLst/>
          </a:prstGeom>
          <a:solidFill>
            <a:srgbClr val="002F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212080" y="1737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Arial" pitchFamily="34" charset="0"/>
                <a:ea typeface="Microsoft YaHei" pitchFamily="34" charset="-122"/>
                <a:cs typeface="Arial" pitchFamily="34" charset="-120"/>
              </a:rPr>
              <a:t>STEP 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0" y="2057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群消息通道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0" y="36576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发送 → /app/chat/group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订阅 → /topic/group/{id}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75320" y="3154680"/>
            <a:ext cx="274320" cy="274320"/>
          </a:xfrm>
          <a:prstGeom prst="ellipse">
            <a:avLst/>
          </a:prstGeom>
          <a:solidFill>
            <a:srgbClr val="1A1A1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452360" y="3657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Arial" pitchFamily="34" charset="0"/>
                <a:ea typeface="Microsoft YaHei" pitchFamily="34" charset="-122"/>
                <a:cs typeface="Arial" pitchFamily="34" charset="-120"/>
              </a:rPr>
              <a:t>STEP 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52360" y="3977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双路径保障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52360" y="557784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REST 加载历史消息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WebSocket 实时推送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515600" y="3154680"/>
            <a:ext cx="274320" cy="274320"/>
          </a:xfrm>
          <a:prstGeom prst="ellipse">
            <a:avLst/>
          </a:prstGeom>
          <a:solidFill>
            <a:srgbClr val="002F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692640" y="1737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latin typeface="Arial" pitchFamily="34" charset="0"/>
                <a:ea typeface="Microsoft YaHei" pitchFamily="34" charset="-122"/>
                <a:cs typeface="Arial" pitchFamily="34" charset="-120"/>
              </a:rPr>
              <a:t>STEP 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92640" y="2057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消息持久化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92640" y="36576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文本直接入库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语音存文件+URL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WebSocket STOMP · SockJS 降级 · REST + WS 双路径保障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217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latin typeface="Arial" pitchFamily="34" charset="0"/>
                <a:ea typeface="Microsoft YaHei" pitchFamily="34" charset="-122"/>
                <a:cs typeface="Arial" pitchFamily="34" charset="-120"/>
              </a:rPr>
              <a:t>9 / 12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6080760"/>
            <a:ext cx="11274552" cy="9144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管理后台 · 部署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FA7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ADMIN + DEPLOY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latin typeface="Arial"/>
                <a:ea typeface="Microsoft YaHei"/>
              </a:rPr>
              <a:t>用户管理 · 数据仪表盘 · 系统监控
Nginx 反向代理 · HTTPS 证书
云服务器部署 · 域名配置 · 生产环境</a:t>
            </a:r>
            <a:endParaRPr lang="en-US" sz="1400" dirty="0"/>
          </a:p>
        </p:txBody>
      </p:sp>
      <p:pic>
        <p:nvPicPr>
          <p:cNvPr id="5" name="Image 0" descr="images/08-admin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50292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217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latin typeface="Arial" pitchFamily="34" charset="0"/>
                <a:ea typeface="Microsoft YaHei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6080760"/>
            <a:ext cx="11274552" cy="9144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开发心得与挑战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FA7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INSIGHTS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solidFill>
            <a:srgbClr val="F5F5F4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474720" cy="45720"/>
          </a:xfrm>
          <a:prstGeom prst="rect">
            <a:avLst/>
          </a:prstGeom>
          <a:solidFill>
            <a:srgbClr val="002F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安全第一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25603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密码 BCrypt 加密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Session + 拦截器保护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solidFill>
            <a:srgbClr val="F5F5F4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3474720" cy="45720"/>
          </a:xfrm>
          <a:prstGeom prst="rect">
            <a:avLst/>
          </a:prstGeom>
          <a:solidFill>
            <a:srgbClr val="002F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754880" y="2011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模块依赖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54880" y="25603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账户是整个系统基础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好友/群聊/后台均依赖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solidFill>
            <a:srgbClr val="F5F5F4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229600" y="1828800"/>
            <a:ext cx="3474720" cy="45720"/>
          </a:xfrm>
          <a:prstGeom prst="rect">
            <a:avLst/>
          </a:prstGeom>
          <a:solidFill>
            <a:srgbClr val="002F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503920" y="20116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状态同步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503920" y="256032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个人信息修改涉及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存储/展示/同步联动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solidFill>
            <a:srgbClr val="F5F5F4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31520" y="4023360"/>
            <a:ext cx="3474720" cy="45720"/>
          </a:xfrm>
          <a:prstGeom prst="rect">
            <a:avLst/>
          </a:prstGeom>
          <a:solidFill>
            <a:srgbClr val="002F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005840" y="4206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实时通信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05840" y="47548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WebSocket 复用 HTTP Session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REST + WS 双路径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solidFill>
            <a:srgbClr val="F5F5F4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480560" y="4023360"/>
            <a:ext cx="3474720" cy="45720"/>
          </a:xfrm>
          <a:prstGeom prst="rect">
            <a:avLst/>
          </a:prstGeom>
          <a:solidFill>
            <a:srgbClr val="002F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754880" y="4206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前端分层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754880" y="47548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单体→7 大模块重构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生成计数器防冲突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solidFill>
            <a:srgbClr val="F5F5F4"/>
          </a:solidFill>
          <a:ln/>
          <a:effectLst>
            <a:outerShdw blurRad="50800" dist="25400" dir="16200000" algn="bl" rotWithShape="0">
              <a:srgbClr val="CCCCCC">
                <a:alpha val="7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8229600" y="4023360"/>
            <a:ext cx="3474720" cy="45720"/>
          </a:xfrm>
          <a:prstGeom prst="rect">
            <a:avLst/>
          </a:prstGeom>
          <a:solidFill>
            <a:srgbClr val="002FA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503920" y="4206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工程思维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503920" y="47548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不只是页面能用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验证/安全/架构缺一不可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217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latin typeface="Arial" pitchFamily="34" charset="0"/>
                <a:ea typeface="Microsoft YaHei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6080760"/>
            <a:ext cx="11274552" cy="9144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2FA7">
            <a:alpha val="8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让沟通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i="1" dirty="0">
                <a:solidFill>
                  <a:srgbClr val="FFFFFF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更简单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DDD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PP Chat — 基于 Spring Boot 的即时通讯系统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846320"/>
            <a:ext cx="2743200" cy="182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5029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南昌大学 · Web 编程课程项目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0" y="18288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dirty="0">
                <a:solidFill>
                  <a:srgbClr val="CCCCCC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955280" y="1783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CCCC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全栈即时通讯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Spring Boot 后端 + SPA 前端 + WebSocket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2004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dirty="0">
                <a:solidFill>
                  <a:srgbClr val="CCCCCC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955280" y="3154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CCCCC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模块化工程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5528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7 大前端模块 · 三层架构 · 10 核心表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45720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955280" y="4526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工程实践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55280" y="4937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Microsoft YaHei" pitchFamily="34" charset="-122"/>
                <a:cs typeface="Arial" pitchFamily="34" charset="-120"/>
              </a:rPr>
              <a:t>Session 认证 · 拦截器 · 管理后台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217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latin typeface="Arial" pitchFamily="34" charset="0"/>
                <a:ea typeface="Microsoft YaHei" pitchFamily="34" charset="-122"/>
                <a:cs typeface="Arial" pitchFamily="34" charset="-120"/>
              </a:rPr>
              <a:t>12 / 12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6080760"/>
            <a:ext cx="11274552" cy="9144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572</Words>
  <Application>Microsoft Office PowerPoint</Application>
  <PresentationFormat>自定义</PresentationFormat>
  <Paragraphs>180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wc dell</cp:lastModifiedBy>
  <cp:revision>3</cp:revision>
  <dcterms:created xsi:type="dcterms:W3CDTF">2026-06-11T12:18:15Z</dcterms:created>
  <dcterms:modified xsi:type="dcterms:W3CDTF">2026-06-11T12:55:09Z</dcterms:modified>
</cp:coreProperties>
</file>